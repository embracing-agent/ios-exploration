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8B5C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86200" y="1371600"/>
            <a:ext cx="1371600" cy="137160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8B5CF6"/>
                </a:solidFill>
                <a:latin typeface="Arial"/>
              </a:defRPr>
            </a:pPr>
            <a:r>
              <a:t>Vibe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Arial"/>
              </a:defRPr>
            </a:pPr>
            <a:r>
              <a:t>AI-Native iOS Experience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754880"/>
            <a:ext cx="2743200" cy="54864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Seed Round: $5M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Current AI apps fail iOS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931920" cy="155448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Non-Native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Most AI apps are web wrappers that feel foreign on iOS. No deep system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931920" cy="155448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2011680"/>
            <a:ext cx="365760" cy="3657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Privacy Concerns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889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All data sent to cloud servers. Users worried about sensitive information exposure.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3931920" cy="155448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Fragmented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Multiple AI tools for different tasks. Context lost between applications.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657600"/>
            <a:ext cx="3931920" cy="155448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3840480"/>
            <a:ext cx="365760" cy="3657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297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Generic, Not Personal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6177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AI doesn't truly understand individual users. Every conversation starts from zero.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AI that lives on your iPhone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28800"/>
            <a:ext cx="274320" cy="27432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iOS-Native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Built with Swift &amp; SwiftUI, deep system integration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560320"/>
            <a:ext cx="274320" cy="27432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Privacy-First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On-device AI processing, data never leaves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91840"/>
            <a:ext cx="274320" cy="27432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Truly Personal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Learns your patterns, remembers context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023360"/>
            <a:ext cx="274320" cy="27432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All-in-One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Assistant, creator, and productivity 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1371600"/>
            <a:ext cx="2286000" cy="4114800"/>
          </a:xfrm>
          <a:prstGeom prst="roundRect">
            <a:avLst/>
          </a:prstGeom>
          <a:solidFill>
            <a:srgbClr val="191928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0" y="1828800"/>
            <a:ext cx="1737360" cy="822960"/>
          </a:xfrm>
          <a:prstGeom prst="roundRect">
            <a:avLst/>
          </a:prstGeom>
          <a:solidFill>
            <a:srgbClr val="8B5CF6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60720" y="2926080"/>
            <a:ext cx="1737360" cy="822960"/>
          </a:xfrm>
          <a:prstGeom prst="roundRect">
            <a:avLst/>
          </a:prstGeom>
          <a:solidFill>
            <a:srgbClr val="06B6D4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0" y="4023360"/>
            <a:ext cx="1737360" cy="822960"/>
          </a:xfrm>
          <a:prstGeom prst="roundRect">
            <a:avLst/>
          </a:prstGeom>
          <a:solidFill>
            <a:srgbClr val="F472B6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Four pillars of intelligent living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920240" cy="27432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VibeGPT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Context-aware AI assistant with long-term memory and voice interaction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1920240" cy="27432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0" y="2194560"/>
            <a:ext cx="365760" cy="3657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Creator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718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AI image generation, smart editing, and content creation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011680"/>
            <a:ext cx="1920240" cy="27432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2194560"/>
            <a:ext cx="365760" cy="3657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Health+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9718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Apple Health integration with AI insights and smart recommendations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011680"/>
            <a:ext cx="1920240" cy="27432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0" y="2194560"/>
            <a:ext cx="365760" cy="36576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Productivity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9718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Smart scheduling, task management, and workflow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 massive, growing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4114800" cy="1005840"/>
          </a:xfrm>
          <a:prstGeom prst="roundRect">
            <a:avLst/>
          </a:prstGeom>
          <a:solidFill>
            <a:srgbClr val="8B5CF6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$180B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  <a:latin typeface="Arial"/>
              </a:defRPr>
            </a:pPr>
            <a:r>
              <a:t>TAM - Global Mobile App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3200400" cy="1005840"/>
          </a:xfrm>
          <a:prstGeom prst="roundRect">
            <a:avLst/>
          </a:prstGeom>
          <a:solidFill>
            <a:srgbClr val="06B6D4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$45B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  <a:latin typeface="Arial"/>
              </a:defRPr>
            </a:pPr>
            <a:r>
              <a:t>SAM - AI-Enhanced Productivity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2286000" cy="1005840"/>
          </a:xfrm>
          <a:prstGeom prst="roundRect">
            <a:avLst/>
          </a:prstGeom>
          <a:solidFill>
            <a:srgbClr val="F472B6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$450M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  <a:latin typeface="Arial"/>
              </a:defRPr>
            </a:pPr>
            <a:r>
              <a:t>SOM - iOS AI-Native (3yr)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Arial"/>
              </a:defRPr>
            </a:pPr>
            <a:r>
              <a:t>Market Tailwinds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AI App Growth YoY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B5CF6"/>
                </a:solidFill>
                <a:latin typeface="Arial"/>
              </a:defRPr>
            </a:pPr>
            <a:r>
              <a:t>+340%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697480"/>
            <a:ext cx="3657600" cy="13716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2697480"/>
            <a:ext cx="3291840" cy="13716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iOS User Premium (vs Android)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108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B5CF6"/>
                </a:solidFill>
                <a:latin typeface="Arial"/>
              </a:defRPr>
            </a:pPr>
            <a:r>
              <a:t>4.5x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429000"/>
            <a:ext cx="3657600" cy="13716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3429000"/>
            <a:ext cx="3108960" cy="13716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On-device AI Interest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B5CF6"/>
                </a:solidFill>
                <a:latin typeface="Arial"/>
              </a:defRPr>
            </a:pPr>
            <a:r>
              <a:t>72%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160520"/>
            <a:ext cx="3657600" cy="137160"/>
          </a:xfrm>
          <a:prstGeom prst="roundRect">
            <a:avLst/>
          </a:prstGeom>
          <a:solidFill>
            <a:srgbClr val="28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4160520"/>
            <a:ext cx="2633472" cy="13716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Proven subscription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Arial"/>
              </a:defRPr>
            </a:pPr>
            <a:r>
              <a:t>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Arial"/>
              </a:defRPr>
            </a:pPr>
            <a:r>
              <a:t>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4114800" cy="12700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User acquisition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4114800" cy="12700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Arial"/>
              </a:defRPr>
            </a:pPr>
            <a:r>
              <a:t>$9.99/mo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Power 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4114800" cy="12700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Ultimate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Arial"/>
              </a:defRPr>
            </a:pPr>
            <a:r>
              <a:t>$19.99/mo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Professionals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4114800" cy="12700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Arial"/>
              </a:defRPr>
            </a:pPr>
            <a:r>
              <a:t>$15/user/mo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Small teams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1828800"/>
            <a:ext cx="1645920" cy="13716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24:1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LTV:CAC Ratio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828800"/>
            <a:ext cx="1645920" cy="13716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$85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Customer LTV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3383280"/>
            <a:ext cx="1645920" cy="13716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3657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$3.50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CAC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3383280"/>
            <a:ext cx="1645920" cy="13716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3.5%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Monthly Churn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Differentiated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solidFill>
            <a:srgbClr val="191928"/>
          </a:solidFill>
          <a:ln>
            <a:solidFill>
              <a:srgbClr val="32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Feature Depth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iOS Quality →</a:t>
            </a:r>
          </a:p>
        </p:txBody>
      </p:sp>
      <p:sp>
        <p:nvSpPr>
          <p:cNvPr id="7" name="Oval 6"/>
          <p:cNvSpPr/>
          <p:nvPr/>
        </p:nvSpPr>
        <p:spPr>
          <a:xfrm>
            <a:off x="2286000" y="2743200"/>
            <a:ext cx="137160" cy="13716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697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ChatGPT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3200400"/>
            <a:ext cx="137160" cy="13716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Copilot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657600"/>
            <a:ext cx="137160" cy="13716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Perplexity</a:t>
            </a:r>
          </a:p>
        </p:txBody>
      </p:sp>
      <p:sp>
        <p:nvSpPr>
          <p:cNvPr id="13" name="Oval 12"/>
          <p:cNvSpPr/>
          <p:nvPr/>
        </p:nvSpPr>
        <p:spPr>
          <a:xfrm>
            <a:off x="1645920" y="2926080"/>
            <a:ext cx="137160" cy="13716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Notion AI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840480"/>
            <a:ext cx="137160" cy="137160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Apple AI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0" y="2103120"/>
            <a:ext cx="182880" cy="18288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057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rial"/>
              </a:defRPr>
            </a:pPr>
            <a:r>
              <a:t>Vibe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Arial"/>
              </a:defRPr>
            </a:pPr>
            <a:r>
              <a:t>Our Moat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0" y="2286000"/>
            <a:ext cx="274320" cy="27432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230428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Proprietary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Optimized for iOS &amp; Apple Silicon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0" y="3063240"/>
            <a:ext cx="274320" cy="27432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30815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3063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Data Flywheel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Personalization improves with usage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0" y="3840480"/>
            <a:ext cx="274320" cy="27432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85876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Network Effects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Community templates &amp; sharing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0" y="4617720"/>
            <a:ext cx="274320" cy="27432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463600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Brand Position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"AI-Native" mindshare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TRACTION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Strong early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920240" cy="13716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2.5K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TestFlight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828800"/>
            <a:ext cx="1920240" cy="13716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52%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651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Day 7 Retention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28800"/>
            <a:ext cx="1920240" cy="13716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NPS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828800"/>
            <a:ext cx="1920240" cy="137160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03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651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Payment 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User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2743200" cy="1280160"/>
          </a:xfrm>
          <a:prstGeom prst="roundRect">
            <a:avLst/>
          </a:prstGeom>
          <a:solidFill>
            <a:srgbClr val="1E1E32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23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"Finally an AI app that feels like it belongs on my iPhone."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46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5CF6"/>
                </a:solidFill>
                <a:latin typeface="Arial"/>
              </a:defRPr>
            </a:pPr>
            <a:r>
              <a:t>— Beta User, Product Designer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931920"/>
            <a:ext cx="2743200" cy="1280160"/>
          </a:xfrm>
          <a:prstGeom prst="roundRect">
            <a:avLst/>
          </a:prstGeom>
          <a:solidFill>
            <a:srgbClr val="1E1E32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023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"The privacy-first approach is exactly what I've been looking for."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846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5CF6"/>
                </a:solidFill>
                <a:latin typeface="Arial"/>
              </a:defRPr>
            </a:pPr>
            <a:r>
              <a:t>— Beta User, Lawyer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2743200" cy="1280160"/>
          </a:xfrm>
          <a:prstGeom prst="roundRect">
            <a:avLst/>
          </a:prstGeom>
          <a:solidFill>
            <a:srgbClr val="1E1E32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23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"It actually remembers our previous conversations. Game changer."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846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5CF6"/>
                </a:solidFill>
                <a:latin typeface="Arial"/>
              </a:defRPr>
            </a:pPr>
            <a:r>
              <a:t>— Beta User, Entrepreneur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Path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8229600" cy="50800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057400" cy="508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2011680"/>
            <a:ext cx="182880" cy="18288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rial"/>
              </a:defRPr>
            </a:pPr>
            <a:r>
              <a:t>Q1-Q2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MVP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Core AI, subscriptions, App Store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2011680"/>
            <a:ext cx="182880" cy="18288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2286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rial"/>
              </a:defRPr>
            </a:pPr>
            <a:r>
              <a:t>Q3-Q4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6060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8803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Full features, 100K users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2011680"/>
            <a:ext cx="182880" cy="18288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rial"/>
              </a:defRPr>
            </a:pPr>
            <a:r>
              <a:t>H1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060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03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International, enterprise, 1M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2011680"/>
            <a:ext cx="182880" cy="18288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28600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rial"/>
              </a:defRPr>
            </a:pPr>
            <a:r>
              <a:t>H2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6060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8803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Arial"/>
              </a:defRPr>
            </a:pPr>
            <a:r>
              <a:t>Open API, plugins, Series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Financial Projections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Arial"/>
              </a:defRPr>
            </a:pPr>
            <a:r>
              <a:t>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Arial"/>
              </a:defRPr>
            </a:pPr>
            <a:r>
              <a:t>Conversion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Arial"/>
              </a:defRPr>
            </a:pPr>
            <a:r>
              <a:t>ARR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7315200" cy="12700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Year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100K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rial"/>
              </a:defRPr>
            </a:pPr>
            <a:r>
              <a:t>$960K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46320"/>
            <a:ext cx="7315200" cy="12700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Year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500K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rial"/>
              </a:defRPr>
            </a:pPr>
            <a:r>
              <a:t>$7.2M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57800"/>
            <a:ext cx="7315200" cy="12700"/>
          </a:xfrm>
          <a:prstGeom prst="rect">
            <a:avLst/>
          </a:prstGeom>
          <a:solidFill>
            <a:srgbClr val="32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Year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2M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Arial"/>
              </a:defRPr>
            </a:pPr>
            <a:r>
              <a:t>$36M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Built by industry veterans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743200" cy="2560320"/>
          </a:xfrm>
          <a:prstGeom prst="roundRect">
            <a:avLst/>
          </a:prstGeom>
          <a:solidFill>
            <a:srgbClr val="1E1E32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011680"/>
            <a:ext cx="914400" cy="91440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JC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James 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5CF6"/>
                </a:solidFill>
                <a:latin typeface="Arial"/>
              </a:defRPr>
            </a:pPr>
            <a:r>
              <a:t>CEO / Co-founder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Arial"/>
              </a:defRPr>
            </a:pPr>
            <a:r>
              <a:t>Ex-Apple Senior Engineer</a:t>
            </a:r>
            <a:br/>
            <a:r>
              <a:t>10 years iOS experience</a:t>
            </a:r>
            <a:br/>
            <a:r>
              <a:t>Previous startup acquired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743200" cy="2560320"/>
          </a:xfrm>
          <a:prstGeom prst="roundRect">
            <a:avLst/>
          </a:prstGeom>
          <a:solidFill>
            <a:srgbClr val="1E1E32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2011680"/>
            <a:ext cx="914400" cy="91440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SW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Sarah Wang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5CF6"/>
                </a:solidFill>
                <a:latin typeface="Arial"/>
              </a:defRPr>
            </a:pPr>
            <a:r>
              <a:t>CTO / 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Arial"/>
              </a:defRPr>
            </a:pPr>
            <a:r>
              <a:t>Ex-Google Brain Researcher</a:t>
            </a:r>
            <a:br/>
            <a:r>
              <a:t>ML PhD, Stanford</a:t>
            </a:r>
            <a:br/>
            <a:r>
              <a:t>Mobile AI specialist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2743200" cy="2560320"/>
          </a:xfrm>
          <a:prstGeom prst="roundRect">
            <a:avLst/>
          </a:prstGeom>
          <a:solidFill>
            <a:srgbClr val="1E1E32"/>
          </a:solidFill>
          <a:ln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0" y="2011680"/>
            <a:ext cx="914400" cy="91440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MK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Michael Kim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5CF6"/>
                </a:solidFill>
                <a:latin typeface="Arial"/>
              </a:defRPr>
            </a:pPr>
            <a:r>
              <a:t>CPO / Co-founder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11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Arial"/>
              </a:defRPr>
            </a:pPr>
            <a:r>
              <a:t>Ex-Instagram Product Lead</a:t>
            </a:r>
            <a:br/>
            <a:r>
              <a:t>Multiple 10M+ user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Arial"/>
              </a:defRPr>
            </a:pPr>
            <a:r>
              <a:t>Advisors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92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Alex Turner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Arial"/>
              </a:defRPr>
            </a:pPr>
            <a:r>
              <a:t>Partner, Top-tier VC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892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Emily Zhang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074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Arial"/>
              </a:defRPr>
            </a:pPr>
            <a:r>
              <a:t>Former Apple VP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892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Dr. Robert Lee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074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Arial"/>
              </a:defRPr>
            </a:pPr>
            <a:r>
              <a:t>AI Professor, Stanford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892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Lisa Park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074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Arial"/>
              </a:defRPr>
            </a:pPr>
            <a:r>
              <a:t>Growth Lead, Unicorn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8B5C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3657600"/>
            <a:ext cx="3657600" cy="3657600"/>
          </a:xfrm>
          <a:prstGeom prst="ellipse">
            <a:avLst/>
          </a:prstGeom>
          <a:solidFill>
            <a:srgbClr val="06B6D4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Join us in building the future of AI on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8B5CF6"/>
                </a:solidFill>
                <a:latin typeface="Arial"/>
              </a:defRPr>
            </a:pPr>
            <a:r>
              <a:t>$5M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  <a:latin typeface="Arial"/>
              </a:defRPr>
            </a:pPr>
            <a:r>
              <a:t>Seed Round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66160"/>
            <a:ext cx="1645920" cy="118872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Product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3566160"/>
            <a:ext cx="1645920" cy="118872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840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Marketing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566160"/>
            <a:ext cx="1645920" cy="118872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840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Team Growth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566160"/>
            <a:ext cx="1645920" cy="1188720"/>
          </a:xfrm>
          <a:prstGeom prst="roundRect">
            <a:avLst/>
          </a:prstGeom>
          <a:solidFill>
            <a:srgbClr val="1E1E32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840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Arial"/>
              </a:defRPr>
            </a:pPr>
            <a: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✉  investors@vibe.app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🌐  www.vibe.app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0" y="-2743200"/>
            <a:ext cx="5486400" cy="5486400"/>
          </a:xfrm>
          <a:prstGeom prst="ellipse">
            <a:avLst/>
          </a:prstGeom>
          <a:solidFill>
            <a:srgbClr val="8B5C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6B6D4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86200" y="1645920"/>
            <a:ext cx="1371600" cy="1371600"/>
          </a:xfrm>
          <a:prstGeom prst="roundRect">
            <a:avLst/>
          </a:prstGeom>
          <a:gradFill rotWithShape="1">
            <a:gsLst>
              <a:gs pos="0">
                <a:srgbClr val="8B5CF6"/>
              </a:gs>
              <a:gs pos="100000">
                <a:srgbClr val="06B6D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Arial"/>
              </a:defRPr>
            </a:pPr>
            <a:r>
              <a:t>Let's shape the future of AI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Arial"/>
              </a:defRPr>
            </a:pPr>
            <a:r>
              <a:t>investors@vibe.app  |  www.vibe.app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